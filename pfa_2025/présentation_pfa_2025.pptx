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61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2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6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3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3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0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0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3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5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5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807" y="114446"/>
            <a:ext cx="4311742" cy="1295504"/>
          </a:xfrm>
          <a:custGeom>
            <a:avLst/>
            <a:gdLst/>
            <a:ahLst/>
            <a:cxnLst/>
            <a:rect l="l" t="t" r="r" b="b"/>
            <a:pathLst>
              <a:path w="4311742" h="1295504">
                <a:moveTo>
                  <a:pt x="0" y="0"/>
                </a:moveTo>
                <a:lnTo>
                  <a:pt x="4311743" y="0"/>
                </a:lnTo>
                <a:lnTo>
                  <a:pt x="4311743" y="1295504"/>
                </a:lnTo>
                <a:lnTo>
                  <a:pt x="0" y="1295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8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4161" y="302277"/>
            <a:ext cx="2605246" cy="2984141"/>
          </a:xfrm>
          <a:custGeom>
            <a:avLst/>
            <a:gdLst/>
            <a:ahLst/>
            <a:cxnLst/>
            <a:rect l="l" t="t" r="r" b="b"/>
            <a:pathLst>
              <a:path w="2605246" h="2984141">
                <a:moveTo>
                  <a:pt x="0" y="0"/>
                </a:moveTo>
                <a:lnTo>
                  <a:pt x="2605246" y="0"/>
                </a:lnTo>
                <a:lnTo>
                  <a:pt x="2605246" y="2984141"/>
                </a:lnTo>
                <a:lnTo>
                  <a:pt x="0" y="298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71" r="-727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593" y="3886397"/>
            <a:ext cx="11537144" cy="3346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426"/>
              </a:lnSpc>
              <a:spcBef>
                <a:spcPct val="0"/>
              </a:spcBef>
            </a:pPr>
            <a:r>
              <a:rPr lang="en-US" sz="6029" b="1" dirty="0">
                <a:solidFill>
                  <a:schemeClr val="accent2"/>
                </a:solidFill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THÈME DU PROJET</a:t>
            </a:r>
          </a:p>
          <a:p>
            <a:pPr marL="0" lvl="0" indent="0" algn="ctr">
              <a:lnSpc>
                <a:spcPts val="5336"/>
              </a:lnSpc>
              <a:spcBef>
                <a:spcPct val="0"/>
              </a:spcBef>
            </a:pPr>
            <a:r>
              <a:rPr lang="en-US" sz="4000" u="none" strike="noStrike" dirty="0">
                <a:latin typeface="Arial" panose="020B0604020202020204" pitchFamily="34" charset="0"/>
                <a:ea typeface="Kitchakan"/>
                <a:cs typeface="Arial" panose="020B0604020202020204" pitchFamily="34" charset="0"/>
                <a:sym typeface="Kitchakan"/>
              </a:rPr>
              <a:t>DÉVELOPPEMENT D’UN CHATBOT MÉDICAL BASÉ SUR LE MODÈLE LORA ET OPTIMISÉ PAR LA TECHNIQUE DE GÉNÉRATION AUGMENTÉE PAR RÉCUPÉRATION.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67001" y="1088140"/>
            <a:ext cx="12115800" cy="2374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837"/>
              </a:lnSpc>
              <a:spcBef>
                <a:spcPct val="0"/>
              </a:spcBef>
            </a:pPr>
            <a:r>
              <a:rPr lang="en-US" sz="6000" b="1" u="none" strike="noStrike" dirty="0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PRÉSENTATION</a:t>
            </a:r>
          </a:p>
          <a:p>
            <a:pPr marL="0" lvl="0" indent="0" algn="ctr">
              <a:lnSpc>
                <a:spcPts val="9837"/>
              </a:lnSpc>
              <a:spcBef>
                <a:spcPct val="0"/>
              </a:spcBef>
            </a:pPr>
            <a:r>
              <a:rPr lang="en-US" sz="6000" b="1" u="none" strike="noStrike" dirty="0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DE PROJET DE FIN D’ANNÉE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04938" y="8395527"/>
            <a:ext cx="4796093" cy="5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800" b="1" spc="79" dirty="0" err="1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Réalisé</a:t>
            </a:r>
            <a:r>
              <a:rPr lang="en-US" sz="2800" b="1" spc="79" dirty="0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 par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71503" y="8395527"/>
            <a:ext cx="4796093" cy="5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800" spc="79" dirty="0" err="1">
                <a:latin typeface="Arial" panose="020B0604020202020204" pitchFamily="34" charset="0"/>
                <a:ea typeface="Kitchakan"/>
                <a:cs typeface="Arial" panose="020B0604020202020204" pitchFamily="34" charset="0"/>
                <a:sym typeface="Kitchakan"/>
              </a:rPr>
              <a:t>Dhieb</a:t>
            </a:r>
            <a:r>
              <a:rPr lang="en-US" sz="2800" spc="79" dirty="0">
                <a:latin typeface="Arial" panose="020B0604020202020204" pitchFamily="34" charset="0"/>
                <a:ea typeface="Kitchakan"/>
                <a:cs typeface="Arial" panose="020B0604020202020204" pitchFamily="34" charset="0"/>
                <a:sym typeface="Kitchakan"/>
              </a:rPr>
              <a:t> Ahmed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42644" y="8395527"/>
            <a:ext cx="4796093" cy="58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spc="79" dirty="0" err="1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Encadré</a:t>
            </a:r>
            <a:r>
              <a:rPr lang="en-US" sz="3599" b="1" spc="79" dirty="0">
                <a:latin typeface="Arial" panose="020B0604020202020204" pitchFamily="34" charset="0"/>
                <a:ea typeface="Kitchakan Bold"/>
                <a:cs typeface="Arial" panose="020B0604020202020204" pitchFamily="34" charset="0"/>
                <a:sym typeface="Kitchakan Bold"/>
              </a:rPr>
              <a:t>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40691" y="8395527"/>
            <a:ext cx="4796093" cy="58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200" spc="79" dirty="0">
                <a:latin typeface="Arial" panose="020B0604020202020204" pitchFamily="34" charset="0"/>
                <a:ea typeface="Kitchakan"/>
                <a:cs typeface="Arial" panose="020B0604020202020204" pitchFamily="34" charset="0"/>
                <a:sym typeface="Kitchakan"/>
              </a:rPr>
              <a:t>      Mr. Bahri Ala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2B200-8240-A8FD-C5C7-E4C775826FD6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E0D3B53-ABFE-AE24-62E0-0999CBAAE898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39B1B7-D01B-4FF9-8D9A-6D37AF9E53A4}"/>
              </a:ext>
            </a:extLst>
          </p:cNvPr>
          <p:cNvSpPr/>
          <p:nvPr/>
        </p:nvSpPr>
        <p:spPr>
          <a:xfrm>
            <a:off x="762000" y="2327093"/>
            <a:ext cx="3200400" cy="29120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PLAN</a:t>
            </a:r>
          </a:p>
          <a:p>
            <a:pPr algn="ctr"/>
            <a:endParaRPr lang="fr-FR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0DE39CD-D28D-EF79-BFEE-2B6F00BE359C}"/>
              </a:ext>
            </a:extLst>
          </p:cNvPr>
          <p:cNvSpPr/>
          <p:nvPr/>
        </p:nvSpPr>
        <p:spPr>
          <a:xfrm>
            <a:off x="6629400" y="917105"/>
            <a:ext cx="6321772" cy="8428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1- INTRODUCTION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CC4E3BC-1555-ADD5-009B-C3E305AD650B}"/>
              </a:ext>
            </a:extLst>
          </p:cNvPr>
          <p:cNvSpPr/>
          <p:nvPr/>
        </p:nvSpPr>
        <p:spPr>
          <a:xfrm>
            <a:off x="6629400" y="2411775"/>
            <a:ext cx="6321772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2- ETAT DE L’ART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250F569-4E1A-CE65-3A82-682E0CE1C93B}"/>
              </a:ext>
            </a:extLst>
          </p:cNvPr>
          <p:cNvSpPr/>
          <p:nvPr/>
        </p:nvSpPr>
        <p:spPr>
          <a:xfrm>
            <a:off x="6629400" y="3780106"/>
            <a:ext cx="6321772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3- DESCRIPTION DU SYSTEME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17FAB2-5760-272D-0ACE-282CCEBDB205}"/>
              </a:ext>
            </a:extLst>
          </p:cNvPr>
          <p:cNvSpPr/>
          <p:nvPr/>
        </p:nvSpPr>
        <p:spPr>
          <a:xfrm>
            <a:off x="6629400" y="5062625"/>
            <a:ext cx="6321772" cy="10668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4- REALISATION ET EVALUATION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7D68AE2-A5C2-4DCE-CE2B-40AB75C0DA47}"/>
              </a:ext>
            </a:extLst>
          </p:cNvPr>
          <p:cNvSpPr/>
          <p:nvPr/>
        </p:nvSpPr>
        <p:spPr>
          <a:xfrm>
            <a:off x="6629400" y="6510425"/>
            <a:ext cx="6321772" cy="10668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5- CONCLUSION ET PERSPECTIVE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/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  <a:solidFill>
            <a:srgbClr val="FFC000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4022" y="5500138"/>
            <a:ext cx="5528096" cy="423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68"/>
              </a:lnSpc>
              <a:spcBef>
                <a:spcPct val="0"/>
              </a:spcBef>
            </a:pP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3 : Les Chatbots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intelligents</a:t>
            </a:r>
            <a:endParaRPr lang="en-US" sz="20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927863" y="9462221"/>
            <a:ext cx="3773695" cy="369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38"/>
              </a:lnSpc>
            </a:pP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4 : Le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domaine</a:t>
            </a: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 santé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1255" y="9370487"/>
            <a:ext cx="4699703" cy="1241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83"/>
              </a:lnSpc>
              <a:spcBef>
                <a:spcPct val="0"/>
              </a:spcBef>
            </a:pP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2 :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Récupération-Génération</a:t>
            </a: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augmentée</a:t>
            </a:r>
            <a:endParaRPr lang="en-US" sz="20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algn="ctr">
              <a:lnSpc>
                <a:spcPts val="3283"/>
              </a:lnSpc>
              <a:spcBef>
                <a:spcPct val="0"/>
              </a:spcBef>
            </a:pPr>
            <a:endParaRPr lang="en-US" sz="234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5798" y="5707242"/>
            <a:ext cx="4354706" cy="808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65"/>
              </a:lnSpc>
              <a:spcBef>
                <a:spcPct val="0"/>
              </a:spcBef>
            </a:pP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1 : Les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modèles</a:t>
            </a: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 </a:t>
            </a:r>
            <a:r>
              <a:rPr lang="en-US" sz="20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langage</a:t>
            </a:r>
            <a:endParaRPr lang="en-US" sz="20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>
              <a:lnSpc>
                <a:spcPts val="3265"/>
              </a:lnSpc>
              <a:spcBef>
                <a:spcPct val="0"/>
              </a:spcBef>
            </a:pPr>
            <a:r>
              <a:rPr lang="en-US" sz="20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larges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pic>
        <p:nvPicPr>
          <p:cNvPr id="44" name="Picture 43" descr="A close-up of a network&#10;&#10;AI-generated content may be incorrect.">
            <a:extLst>
              <a:ext uri="{FF2B5EF4-FFF2-40B4-BE49-F238E27FC236}">
                <a16:creationId xmlns:a16="http://schemas.microsoft.com/office/drawing/2014/main" id="{ED689518-EF66-7370-030E-AB0AE6C68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98" y="2920074"/>
            <a:ext cx="3915848" cy="2440511"/>
          </a:xfrm>
          <a:prstGeom prst="rect">
            <a:avLst/>
          </a:prstGeom>
        </p:spPr>
      </p:pic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809FD1-0D9B-00A7-6E01-B1C3753A12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5" y="6662797"/>
            <a:ext cx="4375146" cy="2440511"/>
          </a:xfrm>
          <a:prstGeom prst="rect">
            <a:avLst/>
          </a:prstGeom>
        </p:spPr>
      </p:pic>
      <p:pic>
        <p:nvPicPr>
          <p:cNvPr id="48" name="Picture 47" descr="A cartoon robot holding a phone&#10;&#10;AI-generated content may be incorrect.">
            <a:extLst>
              <a:ext uri="{FF2B5EF4-FFF2-40B4-BE49-F238E27FC236}">
                <a16:creationId xmlns:a16="http://schemas.microsoft.com/office/drawing/2014/main" id="{83A7B5E3-A8AF-73E3-15C7-57C0BE314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022" y="2920074"/>
            <a:ext cx="4700558" cy="2440511"/>
          </a:xfrm>
          <a:prstGeom prst="rect">
            <a:avLst/>
          </a:prstGeom>
        </p:spPr>
      </p:pic>
      <p:pic>
        <p:nvPicPr>
          <p:cNvPr id="50" name="Picture 49" descr="A person wearing blue scrubs and gloves holding a glowing circle with a cross&#10;&#10;AI-generated content may be incorrect.">
            <a:extLst>
              <a:ext uri="{FF2B5EF4-FFF2-40B4-BE49-F238E27FC236}">
                <a16:creationId xmlns:a16="http://schemas.microsoft.com/office/drawing/2014/main" id="{1FE50EBA-26BF-B180-DA24-A0C4EC952C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864" y="6534879"/>
            <a:ext cx="4556716" cy="2650335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93DBC76-6C98-921C-5432-524CABE6E615}"/>
              </a:ext>
            </a:extLst>
          </p:cNvPr>
          <p:cNvSpPr/>
          <p:nvPr/>
        </p:nvSpPr>
        <p:spPr>
          <a:xfrm>
            <a:off x="6025382" y="3866638"/>
            <a:ext cx="5319782" cy="41147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Technologies </a:t>
            </a:r>
            <a:r>
              <a:rPr lang="en-US" sz="3200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d’IA</a:t>
            </a:r>
            <a:r>
              <a:rPr lang="en-US" sz="320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pour la </a:t>
            </a:r>
            <a:r>
              <a:rPr lang="en-US" sz="3200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génération</a:t>
            </a:r>
            <a:r>
              <a:rPr lang="en-US" sz="320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de </a:t>
            </a:r>
            <a:r>
              <a:rPr lang="en-US" sz="3200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réponses</a:t>
            </a:r>
            <a:r>
              <a:rPr lang="en-US" sz="320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:</a:t>
            </a:r>
          </a:p>
          <a:p>
            <a:pPr algn="ctr"/>
            <a:endParaRPr lang="fr-FR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C5E645-EE47-692A-ED3E-3CF3E99F7AA6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/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  <a:solidFill>
            <a:srgbClr val="FFC00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4400647" y="3589676"/>
            <a:ext cx="9441894" cy="6129184"/>
          </a:xfrm>
          <a:custGeom>
            <a:avLst/>
            <a:gdLst/>
            <a:ahLst/>
            <a:cxnLst/>
            <a:rect l="l" t="t" r="r" b="b"/>
            <a:pathLst>
              <a:path w="9441894" h="6129184">
                <a:moveTo>
                  <a:pt x="0" y="0"/>
                </a:moveTo>
                <a:lnTo>
                  <a:pt x="9441895" y="0"/>
                </a:lnTo>
                <a:lnTo>
                  <a:pt x="9441895" y="6129184"/>
                </a:lnTo>
                <a:lnTo>
                  <a:pt x="0" y="612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6353" y="1782438"/>
            <a:ext cx="1064643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Les </a:t>
            </a:r>
            <a:r>
              <a:rPr lang="en-US" sz="33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modèles</a:t>
            </a:r>
            <a:r>
              <a:rPr lang="en-US" sz="33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</a:t>
            </a:r>
            <a:r>
              <a:rPr lang="en-US" sz="33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prés</a:t>
            </a:r>
            <a:r>
              <a:rPr lang="en-US" sz="33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</a:t>
            </a:r>
            <a:r>
              <a:rPr lang="en-US" sz="33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entrainés</a:t>
            </a:r>
            <a:r>
              <a:rPr lang="en-US" sz="33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dans la </a:t>
            </a:r>
            <a:r>
              <a:rPr lang="en-US" sz="33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biomédecine</a:t>
            </a:r>
            <a:r>
              <a:rPr lang="en-US" sz="33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353" y="2448554"/>
            <a:ext cx="17871673" cy="833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le tableau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suivant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présente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les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avantages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les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limites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des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méthodes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existantes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bassées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sur les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modèles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decoder dans le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domaine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 la </a:t>
            </a:r>
            <a:r>
              <a:rPr lang="en-US" sz="2399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biomédecine</a:t>
            </a:r>
            <a:r>
              <a:rPr lang="en-US" sz="23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: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41FF72-0DAC-1B93-8DE9-D06DCD49CAA9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/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  <a:solidFill>
            <a:srgbClr val="FFC00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218141" y="4025254"/>
            <a:ext cx="3248799" cy="2236492"/>
          </a:xfrm>
          <a:custGeom>
            <a:avLst/>
            <a:gdLst/>
            <a:ahLst/>
            <a:cxnLst/>
            <a:rect l="l" t="t" r="r" b="b"/>
            <a:pathLst>
              <a:path w="3248799" h="2236492">
                <a:moveTo>
                  <a:pt x="0" y="0"/>
                </a:moveTo>
                <a:lnTo>
                  <a:pt x="3248799" y="0"/>
                </a:lnTo>
                <a:lnTo>
                  <a:pt x="3248799" y="2236492"/>
                </a:lnTo>
                <a:lnTo>
                  <a:pt x="0" y="223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049742" y="4025254"/>
            <a:ext cx="2416139" cy="2236492"/>
          </a:xfrm>
          <a:custGeom>
            <a:avLst/>
            <a:gdLst/>
            <a:ahLst/>
            <a:cxnLst/>
            <a:rect l="l" t="t" r="r" b="b"/>
            <a:pathLst>
              <a:path w="2416139" h="2236492">
                <a:moveTo>
                  <a:pt x="0" y="0"/>
                </a:moveTo>
                <a:lnTo>
                  <a:pt x="2416140" y="0"/>
                </a:lnTo>
                <a:lnTo>
                  <a:pt x="2416140" y="2236492"/>
                </a:lnTo>
                <a:lnTo>
                  <a:pt x="0" y="223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16" b="-4016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44716" y="4025254"/>
            <a:ext cx="2979696" cy="2236492"/>
          </a:xfrm>
          <a:custGeom>
            <a:avLst/>
            <a:gdLst/>
            <a:ahLst/>
            <a:cxnLst/>
            <a:rect l="l" t="t" r="r" b="b"/>
            <a:pathLst>
              <a:path w="2979696" h="2236492">
                <a:moveTo>
                  <a:pt x="0" y="0"/>
                </a:moveTo>
                <a:lnTo>
                  <a:pt x="2979696" y="0"/>
                </a:lnTo>
                <a:lnTo>
                  <a:pt x="2979696" y="2236492"/>
                </a:lnTo>
                <a:lnTo>
                  <a:pt x="0" y="2236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452883" y="1763388"/>
            <a:ext cx="6433867" cy="71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6"/>
              </a:lnSpc>
              <a:spcBef>
                <a:spcPct val="0"/>
              </a:spcBef>
            </a:pPr>
            <a:r>
              <a:rPr lang="en-US" sz="4340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Exemple</a:t>
            </a:r>
            <a:r>
              <a:rPr lang="en-US" sz="434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</a:t>
            </a:r>
            <a:r>
              <a:rPr lang="en-US" sz="4340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d’application</a:t>
            </a:r>
            <a:r>
              <a:rPr lang="en-US" sz="4340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: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5402" y="6885577"/>
            <a:ext cx="4459844" cy="56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28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5 : Ada Health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92542" y="6885577"/>
            <a:ext cx="5142258" cy="56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28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6 : </a:t>
            </a:r>
            <a:r>
              <a:rPr lang="en-US" sz="28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Symptomate</a:t>
            </a:r>
            <a:endParaRPr lang="en-US" sz="28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322665" y="6885577"/>
            <a:ext cx="4593735" cy="56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28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7 : Buoy Health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0BA0A3-635B-87AF-7867-278F6559077B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/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rgbClr val="FFC000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503780" y="3167374"/>
            <a:ext cx="12517882" cy="6318577"/>
          </a:xfrm>
          <a:custGeom>
            <a:avLst/>
            <a:gdLst/>
            <a:ahLst/>
            <a:cxnLst/>
            <a:rect l="l" t="t" r="r" b="b"/>
            <a:pathLst>
              <a:path w="12517882" h="6624046">
                <a:moveTo>
                  <a:pt x="0" y="0"/>
                </a:moveTo>
                <a:lnTo>
                  <a:pt x="12517883" y="0"/>
                </a:lnTo>
                <a:lnTo>
                  <a:pt x="12517883" y="6624046"/>
                </a:lnTo>
                <a:lnTo>
                  <a:pt x="0" y="662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9" name="TextBox 19"/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1741" y="1776333"/>
            <a:ext cx="18288000" cy="119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Le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projet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suit un workflow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structuré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plusieurs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étapes,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allant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de la conception à la mise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œuvre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du chatbot medical, la figure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suivante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présente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l’architecture</a:t>
            </a:r>
            <a:r>
              <a:rPr lang="en-US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du </a:t>
            </a:r>
            <a:r>
              <a:rPr lang="en-US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système</a:t>
            </a:r>
            <a:endParaRPr lang="en-US" sz="24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2713204" y="3376924"/>
            <a:ext cx="4639570" cy="2044139"/>
            <a:chOff x="0" y="0"/>
            <a:chExt cx="1221944" cy="5383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21944" cy="538374"/>
            </a:xfrm>
            <a:custGeom>
              <a:avLst/>
              <a:gdLst/>
              <a:ahLst/>
              <a:cxnLst/>
              <a:rect l="l" t="t" r="r" b="b"/>
              <a:pathLst>
                <a:path w="1221944" h="538374">
                  <a:moveTo>
                    <a:pt x="28367" y="0"/>
                  </a:moveTo>
                  <a:lnTo>
                    <a:pt x="1193577" y="0"/>
                  </a:lnTo>
                  <a:cubicBezTo>
                    <a:pt x="1201100" y="0"/>
                    <a:pt x="1208316" y="2989"/>
                    <a:pt x="1213636" y="8309"/>
                  </a:cubicBezTo>
                  <a:cubicBezTo>
                    <a:pt x="1218956" y="13629"/>
                    <a:pt x="1221944" y="20844"/>
                    <a:pt x="1221944" y="28367"/>
                  </a:cubicBezTo>
                  <a:lnTo>
                    <a:pt x="1221944" y="510007"/>
                  </a:lnTo>
                  <a:cubicBezTo>
                    <a:pt x="1221944" y="517530"/>
                    <a:pt x="1218956" y="524745"/>
                    <a:pt x="1213636" y="530065"/>
                  </a:cubicBezTo>
                  <a:cubicBezTo>
                    <a:pt x="1208316" y="535385"/>
                    <a:pt x="1201100" y="538374"/>
                    <a:pt x="1193577" y="538374"/>
                  </a:cubicBezTo>
                  <a:lnTo>
                    <a:pt x="28367" y="538374"/>
                  </a:lnTo>
                  <a:cubicBezTo>
                    <a:pt x="20844" y="538374"/>
                    <a:pt x="13629" y="535385"/>
                    <a:pt x="8309" y="530065"/>
                  </a:cubicBezTo>
                  <a:cubicBezTo>
                    <a:pt x="2989" y="524745"/>
                    <a:pt x="0" y="517530"/>
                    <a:pt x="0" y="510007"/>
                  </a:cubicBezTo>
                  <a:lnTo>
                    <a:pt x="0" y="28367"/>
                  </a:lnTo>
                  <a:cubicBezTo>
                    <a:pt x="0" y="20844"/>
                    <a:pt x="2989" y="13629"/>
                    <a:pt x="8309" y="8309"/>
                  </a:cubicBezTo>
                  <a:cubicBezTo>
                    <a:pt x="13629" y="2989"/>
                    <a:pt x="20844" y="0"/>
                    <a:pt x="283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221944" cy="57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65604" y="3376924"/>
            <a:ext cx="4639570" cy="2044139"/>
            <a:chOff x="0" y="0"/>
            <a:chExt cx="1221944" cy="5383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21944" cy="538374"/>
            </a:xfrm>
            <a:custGeom>
              <a:avLst/>
              <a:gdLst/>
              <a:ahLst/>
              <a:cxnLst/>
              <a:rect l="l" t="t" r="r" b="b"/>
              <a:pathLst>
                <a:path w="1221944" h="538374">
                  <a:moveTo>
                    <a:pt x="28367" y="0"/>
                  </a:moveTo>
                  <a:lnTo>
                    <a:pt x="1193577" y="0"/>
                  </a:lnTo>
                  <a:cubicBezTo>
                    <a:pt x="1201100" y="0"/>
                    <a:pt x="1208316" y="2989"/>
                    <a:pt x="1213636" y="8309"/>
                  </a:cubicBezTo>
                  <a:cubicBezTo>
                    <a:pt x="1218956" y="13629"/>
                    <a:pt x="1221944" y="20844"/>
                    <a:pt x="1221944" y="28367"/>
                  </a:cubicBezTo>
                  <a:lnTo>
                    <a:pt x="1221944" y="510007"/>
                  </a:lnTo>
                  <a:cubicBezTo>
                    <a:pt x="1221944" y="517530"/>
                    <a:pt x="1218956" y="524745"/>
                    <a:pt x="1213636" y="530065"/>
                  </a:cubicBezTo>
                  <a:cubicBezTo>
                    <a:pt x="1208316" y="535385"/>
                    <a:pt x="1201100" y="538374"/>
                    <a:pt x="1193577" y="538374"/>
                  </a:cubicBezTo>
                  <a:lnTo>
                    <a:pt x="28367" y="538374"/>
                  </a:lnTo>
                  <a:cubicBezTo>
                    <a:pt x="20844" y="538374"/>
                    <a:pt x="13629" y="535385"/>
                    <a:pt x="8309" y="530065"/>
                  </a:cubicBezTo>
                  <a:cubicBezTo>
                    <a:pt x="2989" y="524745"/>
                    <a:pt x="0" y="517530"/>
                    <a:pt x="0" y="510007"/>
                  </a:cubicBezTo>
                  <a:lnTo>
                    <a:pt x="0" y="28367"/>
                  </a:lnTo>
                  <a:cubicBezTo>
                    <a:pt x="0" y="20844"/>
                    <a:pt x="2989" y="13629"/>
                    <a:pt x="8309" y="8309"/>
                  </a:cubicBezTo>
                  <a:cubicBezTo>
                    <a:pt x="13629" y="2989"/>
                    <a:pt x="20844" y="0"/>
                    <a:pt x="283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21944" cy="57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52774" y="3796603"/>
            <a:ext cx="2042967" cy="4353451"/>
            <a:chOff x="0" y="0"/>
            <a:chExt cx="538065" cy="11465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8065" cy="1146588"/>
            </a:xfrm>
            <a:custGeom>
              <a:avLst/>
              <a:gdLst/>
              <a:ahLst/>
              <a:cxnLst/>
              <a:rect l="l" t="t" r="r" b="b"/>
              <a:pathLst>
                <a:path w="538065" h="1146588">
                  <a:moveTo>
                    <a:pt x="64422" y="0"/>
                  </a:moveTo>
                  <a:lnTo>
                    <a:pt x="473643" y="0"/>
                  </a:lnTo>
                  <a:cubicBezTo>
                    <a:pt x="509222" y="0"/>
                    <a:pt x="538065" y="28843"/>
                    <a:pt x="538065" y="64422"/>
                  </a:cubicBezTo>
                  <a:lnTo>
                    <a:pt x="538065" y="1082166"/>
                  </a:lnTo>
                  <a:cubicBezTo>
                    <a:pt x="538065" y="1099252"/>
                    <a:pt x="531278" y="1115638"/>
                    <a:pt x="519196" y="1127719"/>
                  </a:cubicBezTo>
                  <a:cubicBezTo>
                    <a:pt x="507115" y="1139801"/>
                    <a:pt x="490729" y="1146588"/>
                    <a:pt x="473643" y="1146588"/>
                  </a:cubicBezTo>
                  <a:lnTo>
                    <a:pt x="64422" y="1146588"/>
                  </a:lnTo>
                  <a:cubicBezTo>
                    <a:pt x="47336" y="1146588"/>
                    <a:pt x="30950" y="1139801"/>
                    <a:pt x="18869" y="1127719"/>
                  </a:cubicBezTo>
                  <a:cubicBezTo>
                    <a:pt x="6787" y="1115638"/>
                    <a:pt x="0" y="1099252"/>
                    <a:pt x="0" y="1082166"/>
                  </a:cubicBezTo>
                  <a:lnTo>
                    <a:pt x="0" y="64422"/>
                  </a:lnTo>
                  <a:cubicBezTo>
                    <a:pt x="0" y="47336"/>
                    <a:pt x="6787" y="30950"/>
                    <a:pt x="18869" y="18869"/>
                  </a:cubicBezTo>
                  <a:cubicBezTo>
                    <a:pt x="30950" y="6787"/>
                    <a:pt x="47336" y="0"/>
                    <a:pt x="644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38065" cy="118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713204" y="5143500"/>
            <a:ext cx="4791970" cy="3006554"/>
            <a:chOff x="0" y="0"/>
            <a:chExt cx="1262083" cy="7918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62083" cy="791850"/>
            </a:xfrm>
            <a:custGeom>
              <a:avLst/>
              <a:gdLst/>
              <a:ahLst/>
              <a:cxnLst/>
              <a:rect l="l" t="t" r="r" b="b"/>
              <a:pathLst>
                <a:path w="1262083" h="791850">
                  <a:moveTo>
                    <a:pt x="27465" y="0"/>
                  </a:moveTo>
                  <a:lnTo>
                    <a:pt x="1234617" y="0"/>
                  </a:lnTo>
                  <a:cubicBezTo>
                    <a:pt x="1249786" y="0"/>
                    <a:pt x="1262083" y="12297"/>
                    <a:pt x="1262083" y="27465"/>
                  </a:cubicBezTo>
                  <a:lnTo>
                    <a:pt x="1262083" y="764384"/>
                  </a:lnTo>
                  <a:cubicBezTo>
                    <a:pt x="1262083" y="779553"/>
                    <a:pt x="1249786" y="791850"/>
                    <a:pt x="1234617" y="791850"/>
                  </a:cubicBezTo>
                  <a:lnTo>
                    <a:pt x="27465" y="791850"/>
                  </a:lnTo>
                  <a:cubicBezTo>
                    <a:pt x="12297" y="791850"/>
                    <a:pt x="0" y="779553"/>
                    <a:pt x="0" y="764384"/>
                  </a:cubicBezTo>
                  <a:lnTo>
                    <a:pt x="0" y="27465"/>
                  </a:lnTo>
                  <a:cubicBezTo>
                    <a:pt x="0" y="12297"/>
                    <a:pt x="12297" y="0"/>
                    <a:pt x="274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262083" cy="82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12435" y="8203369"/>
            <a:ext cx="2840660" cy="1282582"/>
            <a:chOff x="0" y="0"/>
            <a:chExt cx="748157" cy="3377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48157" cy="337799"/>
            </a:xfrm>
            <a:custGeom>
              <a:avLst/>
              <a:gdLst/>
              <a:ahLst/>
              <a:cxnLst/>
              <a:rect l="l" t="t" r="r" b="b"/>
              <a:pathLst>
                <a:path w="748157" h="337799">
                  <a:moveTo>
                    <a:pt x="46332" y="0"/>
                  </a:moveTo>
                  <a:lnTo>
                    <a:pt x="701826" y="0"/>
                  </a:lnTo>
                  <a:cubicBezTo>
                    <a:pt x="727414" y="0"/>
                    <a:pt x="748157" y="20743"/>
                    <a:pt x="748157" y="46332"/>
                  </a:cubicBezTo>
                  <a:lnTo>
                    <a:pt x="748157" y="291468"/>
                  </a:lnTo>
                  <a:cubicBezTo>
                    <a:pt x="748157" y="303756"/>
                    <a:pt x="743276" y="315540"/>
                    <a:pt x="734587" y="324229"/>
                  </a:cubicBezTo>
                  <a:cubicBezTo>
                    <a:pt x="725898" y="332918"/>
                    <a:pt x="714114" y="337799"/>
                    <a:pt x="701826" y="337799"/>
                  </a:cubicBezTo>
                  <a:lnTo>
                    <a:pt x="46332" y="337799"/>
                  </a:lnTo>
                  <a:cubicBezTo>
                    <a:pt x="20743" y="337799"/>
                    <a:pt x="0" y="317056"/>
                    <a:pt x="0" y="291468"/>
                  </a:cubicBezTo>
                  <a:lnTo>
                    <a:pt x="0" y="46332"/>
                  </a:lnTo>
                  <a:cubicBezTo>
                    <a:pt x="0" y="20743"/>
                    <a:pt x="20743" y="0"/>
                    <a:pt x="463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748157" cy="375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53095" y="8150054"/>
            <a:ext cx="4077397" cy="1282582"/>
            <a:chOff x="0" y="0"/>
            <a:chExt cx="1073882" cy="3377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73882" cy="337799"/>
            </a:xfrm>
            <a:custGeom>
              <a:avLst/>
              <a:gdLst/>
              <a:ahLst/>
              <a:cxnLst/>
              <a:rect l="l" t="t" r="r" b="b"/>
              <a:pathLst>
                <a:path w="1073882" h="337799">
                  <a:moveTo>
                    <a:pt x="32279" y="0"/>
                  </a:moveTo>
                  <a:lnTo>
                    <a:pt x="1041604" y="0"/>
                  </a:lnTo>
                  <a:cubicBezTo>
                    <a:pt x="1059431" y="0"/>
                    <a:pt x="1073882" y="14452"/>
                    <a:pt x="1073882" y="32279"/>
                  </a:cubicBezTo>
                  <a:lnTo>
                    <a:pt x="1073882" y="305521"/>
                  </a:lnTo>
                  <a:cubicBezTo>
                    <a:pt x="1073882" y="314082"/>
                    <a:pt x="1070482" y="322292"/>
                    <a:pt x="1064428" y="328345"/>
                  </a:cubicBezTo>
                  <a:cubicBezTo>
                    <a:pt x="1058375" y="334399"/>
                    <a:pt x="1050165" y="337799"/>
                    <a:pt x="1041604" y="337799"/>
                  </a:cubicBezTo>
                  <a:lnTo>
                    <a:pt x="32279" y="337799"/>
                  </a:lnTo>
                  <a:cubicBezTo>
                    <a:pt x="14452" y="337799"/>
                    <a:pt x="0" y="323348"/>
                    <a:pt x="0" y="305521"/>
                  </a:cubicBezTo>
                  <a:lnTo>
                    <a:pt x="0" y="32279"/>
                  </a:lnTo>
                  <a:cubicBezTo>
                    <a:pt x="0" y="14452"/>
                    <a:pt x="14452" y="0"/>
                    <a:pt x="322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73882" cy="375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35716" y="5421063"/>
            <a:ext cx="1941554" cy="3958258"/>
            <a:chOff x="0" y="0"/>
            <a:chExt cx="511356" cy="104250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11356" cy="1042504"/>
            </a:xfrm>
            <a:custGeom>
              <a:avLst/>
              <a:gdLst/>
              <a:ahLst/>
              <a:cxnLst/>
              <a:rect l="l" t="t" r="r" b="b"/>
              <a:pathLst>
                <a:path w="511356" h="1042504">
                  <a:moveTo>
                    <a:pt x="67787" y="0"/>
                  </a:moveTo>
                  <a:lnTo>
                    <a:pt x="443568" y="0"/>
                  </a:lnTo>
                  <a:cubicBezTo>
                    <a:pt x="461547" y="0"/>
                    <a:pt x="478789" y="7142"/>
                    <a:pt x="491501" y="19854"/>
                  </a:cubicBezTo>
                  <a:cubicBezTo>
                    <a:pt x="504214" y="32567"/>
                    <a:pt x="511356" y="49809"/>
                    <a:pt x="511356" y="67787"/>
                  </a:cubicBezTo>
                  <a:lnTo>
                    <a:pt x="511356" y="974717"/>
                  </a:lnTo>
                  <a:cubicBezTo>
                    <a:pt x="511356" y="992695"/>
                    <a:pt x="504214" y="1009937"/>
                    <a:pt x="491501" y="1022650"/>
                  </a:cubicBezTo>
                  <a:cubicBezTo>
                    <a:pt x="478789" y="1035362"/>
                    <a:pt x="461547" y="1042504"/>
                    <a:pt x="443568" y="1042504"/>
                  </a:cubicBezTo>
                  <a:lnTo>
                    <a:pt x="67787" y="1042504"/>
                  </a:lnTo>
                  <a:cubicBezTo>
                    <a:pt x="49809" y="1042504"/>
                    <a:pt x="32567" y="1035362"/>
                    <a:pt x="19854" y="1022650"/>
                  </a:cubicBezTo>
                  <a:cubicBezTo>
                    <a:pt x="7142" y="1009937"/>
                    <a:pt x="0" y="992695"/>
                    <a:pt x="0" y="974717"/>
                  </a:cubicBezTo>
                  <a:lnTo>
                    <a:pt x="0" y="67787"/>
                  </a:lnTo>
                  <a:cubicBezTo>
                    <a:pt x="0" y="49809"/>
                    <a:pt x="7142" y="32567"/>
                    <a:pt x="19854" y="19854"/>
                  </a:cubicBezTo>
                  <a:cubicBezTo>
                    <a:pt x="32567" y="7142"/>
                    <a:pt x="49809" y="0"/>
                    <a:pt x="677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11356" cy="1080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907327" y="3376924"/>
            <a:ext cx="2846218" cy="2044139"/>
            <a:chOff x="0" y="0"/>
            <a:chExt cx="749621" cy="53837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49621" cy="538374"/>
            </a:xfrm>
            <a:custGeom>
              <a:avLst/>
              <a:gdLst/>
              <a:ahLst/>
              <a:cxnLst/>
              <a:rect l="l" t="t" r="r" b="b"/>
              <a:pathLst>
                <a:path w="749621" h="538374">
                  <a:moveTo>
                    <a:pt x="46241" y="0"/>
                  </a:moveTo>
                  <a:lnTo>
                    <a:pt x="703380" y="0"/>
                  </a:lnTo>
                  <a:cubicBezTo>
                    <a:pt x="715644" y="0"/>
                    <a:pt x="727406" y="4872"/>
                    <a:pt x="736078" y="13544"/>
                  </a:cubicBezTo>
                  <a:cubicBezTo>
                    <a:pt x="744749" y="22216"/>
                    <a:pt x="749621" y="33977"/>
                    <a:pt x="749621" y="46241"/>
                  </a:cubicBezTo>
                  <a:lnTo>
                    <a:pt x="749621" y="492133"/>
                  </a:lnTo>
                  <a:cubicBezTo>
                    <a:pt x="749621" y="517671"/>
                    <a:pt x="728918" y="538374"/>
                    <a:pt x="703380" y="538374"/>
                  </a:cubicBezTo>
                  <a:lnTo>
                    <a:pt x="46241" y="538374"/>
                  </a:lnTo>
                  <a:cubicBezTo>
                    <a:pt x="20703" y="538374"/>
                    <a:pt x="0" y="517671"/>
                    <a:pt x="0" y="492133"/>
                  </a:cubicBezTo>
                  <a:lnTo>
                    <a:pt x="0" y="46241"/>
                  </a:lnTo>
                  <a:cubicBezTo>
                    <a:pt x="0" y="20703"/>
                    <a:pt x="20703" y="0"/>
                    <a:pt x="462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749621" cy="57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AA63200-5D0B-46D9-CEDE-E2D8B36248AA}"/>
              </a:ext>
            </a:extLst>
          </p:cNvPr>
          <p:cNvSpPr txBox="1"/>
          <p:nvPr/>
        </p:nvSpPr>
        <p:spPr>
          <a:xfrm>
            <a:off x="6509349" y="9705300"/>
            <a:ext cx="429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Figure 8 : Architecture Système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E084B7-2867-681D-736D-7299850D32F8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/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rgbClr val="FFC000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1740" y="1782438"/>
            <a:ext cx="5041106" cy="58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Les </a:t>
            </a:r>
            <a:r>
              <a:rPr lang="en-US" sz="35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modèles</a:t>
            </a:r>
            <a:r>
              <a:rPr lang="en-US" sz="3599" b="1" dirty="0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</a:t>
            </a:r>
            <a:r>
              <a:rPr lang="en-US" sz="3599" b="1" dirty="0" err="1"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utilisés</a:t>
            </a:r>
            <a:r>
              <a:rPr lang="en-US" sz="3599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: </a:t>
            </a:r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82A87-C46C-F045-6516-0F5A8E677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759250"/>
            <a:ext cx="6705600" cy="3352800"/>
          </a:xfrm>
          <a:prstGeom prst="rect">
            <a:avLst/>
          </a:prstGeom>
        </p:spPr>
      </p:pic>
      <p:pic>
        <p:nvPicPr>
          <p:cNvPr id="29" name="Picture 2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22750C0-97DF-27D6-225D-EE369A5DF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938075"/>
            <a:ext cx="6400800" cy="3171177"/>
          </a:xfrm>
          <a:prstGeom prst="rect">
            <a:avLst/>
          </a:prstGeom>
        </p:spPr>
      </p:pic>
      <p:sp>
        <p:nvSpPr>
          <p:cNvPr id="30" name="TextBox 27">
            <a:extLst>
              <a:ext uri="{FF2B5EF4-FFF2-40B4-BE49-F238E27FC236}">
                <a16:creationId xmlns:a16="http://schemas.microsoft.com/office/drawing/2014/main" id="{06162113-5FA8-5A0B-DF86-CEB6AE11AD40}"/>
              </a:ext>
            </a:extLst>
          </p:cNvPr>
          <p:cNvSpPr txBox="1"/>
          <p:nvPr/>
        </p:nvSpPr>
        <p:spPr>
          <a:xfrm>
            <a:off x="914400" y="7353300"/>
            <a:ext cx="5139011" cy="56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28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Figure 9 : </a:t>
            </a:r>
            <a:r>
              <a:rPr lang="en-US" sz="28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Modèle</a:t>
            </a:r>
            <a:r>
              <a:rPr lang="en-US" sz="2800" dirty="0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d’embedding</a:t>
            </a:r>
            <a:endParaRPr lang="en-US" sz="2800" dirty="0"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266BCA-FD8F-E4F1-AFC7-4E58A622BB7C}"/>
              </a:ext>
            </a:extLst>
          </p:cNvPr>
          <p:cNvSpPr txBox="1"/>
          <p:nvPr/>
        </p:nvSpPr>
        <p:spPr>
          <a:xfrm>
            <a:off x="9703188" y="7416321"/>
            <a:ext cx="7666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Figure 10 : Modèle de génération de réponse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CDB6A5-C314-5461-15E4-584D3BE7C014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B0CC-39F3-585F-0E64-FADC7416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45F6DA-706A-9EDD-FD38-C3AC613C392A}"/>
              </a:ext>
            </a:extLst>
          </p:cNvPr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7A3F9AC-043C-34FB-CD65-1ADCADFC457C}"/>
              </a:ext>
            </a:extLst>
          </p:cNvPr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2552DE1-DA27-0513-C3F8-55572B10A326}"/>
                </a:ext>
              </a:extLst>
            </p:cNvPr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FD7007F-A5DF-7F7D-15A6-F3E4C82B3F79}"/>
                </a:ext>
              </a:extLst>
            </p:cNvPr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6F73F78-8066-2B67-4754-6F92724DF51A}"/>
              </a:ext>
            </a:extLst>
          </p:cNvPr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D7A7B2E-7952-BC93-1D8A-A34C7FB1F5C3}"/>
                </a:ext>
              </a:extLst>
            </p:cNvPr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5EADC64-96DA-1791-7C0D-76EDAA5BBD71}"/>
                </a:ext>
              </a:extLst>
            </p:cNvPr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55318BF-B307-5ACE-4CA3-5CD7237C0F93}"/>
              </a:ext>
            </a:extLst>
          </p:cNvPr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chemeClr val="bg1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056437-7D62-4063-2B85-356E40AE4E53}"/>
                </a:ext>
              </a:extLst>
            </p:cNvPr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6EE3F48-48F9-6F62-AC70-926D49C7C3D0}"/>
                </a:ext>
              </a:extLst>
            </p:cNvPr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D55C38-B122-05A6-268B-FB436177928A}"/>
              </a:ext>
            </a:extLst>
          </p:cNvPr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  <a:solidFill>
            <a:srgbClr val="FFC000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2C4EC61-5993-B19A-EADD-DBF4F6A73E24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9EDEC31-35A4-817F-E0DA-4CC89C1F86AF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92E9F3D-7779-74AA-7140-F1462C3C0542}"/>
              </a:ext>
            </a:extLst>
          </p:cNvPr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A0DD310-333E-7057-A622-86AFB50D99F9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6F9BB81-6A49-6C67-6B46-1C9707AFB2AB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ACB6D6EA-AEE0-1A64-C4B0-5EC498114B7F}"/>
              </a:ext>
            </a:extLst>
          </p:cNvPr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CBC94EE-8C2C-3C68-FE2A-67C9631AF5F2}"/>
              </a:ext>
            </a:extLst>
          </p:cNvPr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4CC9EDD-2E17-360D-6445-BEFE976B4773}"/>
              </a:ext>
            </a:extLst>
          </p:cNvPr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20051B4-DBBB-1CB7-E088-542241262732}"/>
              </a:ext>
            </a:extLst>
          </p:cNvPr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41D4434-9AE5-7F9C-AB77-CBC9C890F748}"/>
              </a:ext>
            </a:extLst>
          </p:cNvPr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F4683-A495-FDC7-5A38-0324AE2B6C6E}"/>
              </a:ext>
            </a:extLst>
          </p:cNvPr>
          <p:cNvSpPr txBox="1"/>
          <p:nvPr/>
        </p:nvSpPr>
        <p:spPr>
          <a:xfrm>
            <a:off x="223793" y="1826252"/>
            <a:ext cx="5830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Les métriques de performances 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D4CE7-3A8E-03E4-F04A-27C5918F654E}"/>
              </a:ext>
            </a:extLst>
          </p:cNvPr>
          <p:cNvSpPr txBox="1"/>
          <p:nvPr/>
        </p:nvSpPr>
        <p:spPr>
          <a:xfrm>
            <a:off x="251740" y="2648241"/>
            <a:ext cx="11889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tableau suivant présente les performances du RAG et leurs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interpétations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 descr="A table with text on it&#10;&#10;AI-generated content may be incorrect.">
            <a:extLst>
              <a:ext uri="{FF2B5EF4-FFF2-40B4-BE49-F238E27FC236}">
                <a16:creationId xmlns:a16="http://schemas.microsoft.com/office/drawing/2014/main" id="{EA4E7F71-BE4A-171D-0E51-69B70ED65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064" y="3408675"/>
            <a:ext cx="10333822" cy="55019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A9E9165-47C0-E98A-87B8-10EB112AA893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5374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1567E-BBEF-E7A8-0646-BC8C11B8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FEF9E0-2DE8-33E0-2A2B-73DA892306E3}"/>
              </a:ext>
            </a:extLst>
          </p:cNvPr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E250FA-36B8-E438-7B9F-78B4E859B59A}"/>
              </a:ext>
            </a:extLst>
          </p:cNvPr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EB4B24-77D6-4EFF-A9D8-4B89B6E2699E}"/>
                </a:ext>
              </a:extLst>
            </p:cNvPr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A701081-68E2-7EC7-1A92-9275A367300C}"/>
                </a:ext>
              </a:extLst>
            </p:cNvPr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FFFAA43-95F1-8EBA-921D-B73DF68A5C8D}"/>
              </a:ext>
            </a:extLst>
          </p:cNvPr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BF4C472-4BC1-7DA0-813B-33E43EB95A70}"/>
                </a:ext>
              </a:extLst>
            </p:cNvPr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0CAA52B-BCAD-EE5F-D68C-6ACD136EC143}"/>
                </a:ext>
              </a:extLst>
            </p:cNvPr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09CC4F3-1B38-5B06-7561-F5EE73EBCAD8}"/>
              </a:ext>
            </a:extLst>
          </p:cNvPr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chemeClr val="bg1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B48D20F-9404-B297-B4EA-5C576A4B579A}"/>
                </a:ext>
              </a:extLst>
            </p:cNvPr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59B639-35A8-622D-1E34-66F713D89B1F}"/>
                </a:ext>
              </a:extLst>
            </p:cNvPr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A954C98-3F4F-8C2E-1FDD-06FBA3B61B6E}"/>
              </a:ext>
            </a:extLst>
          </p:cNvPr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  <a:solidFill>
            <a:srgbClr val="FFC000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4296177-4827-3067-4578-19A063313B74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ADAD948-9E57-65EE-AC42-4C14BE434BD9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536A1ED-1349-2B38-3963-A056659EE792}"/>
              </a:ext>
            </a:extLst>
          </p:cNvPr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49FA124-3847-0551-83FB-8433AA3215B6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CE6E744-CDA6-0388-8B9D-FF52CECE8CE9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68C70B52-14CA-7505-1848-9709966FD0E9}"/>
              </a:ext>
            </a:extLst>
          </p:cNvPr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B43D4D9-2174-7C8D-986B-09120D7C0429}"/>
              </a:ext>
            </a:extLst>
          </p:cNvPr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C464A0C-CAF6-84EF-1C41-EFA6CF2E1234}"/>
              </a:ext>
            </a:extLst>
          </p:cNvPr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704FAC6-1457-DE32-FD8E-83B1CCC28E8E}"/>
              </a:ext>
            </a:extLst>
          </p:cNvPr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938BD0B-9B05-91EE-1BBE-E1B2B6F8FD22}"/>
              </a:ext>
            </a:extLst>
          </p:cNvPr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B2A397-B096-90C3-5E4D-26A14190D5FA}"/>
              </a:ext>
            </a:extLst>
          </p:cNvPr>
          <p:cNvSpPr txBox="1"/>
          <p:nvPr/>
        </p:nvSpPr>
        <p:spPr>
          <a:xfrm>
            <a:off x="223792" y="1826252"/>
            <a:ext cx="11130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Comparaison entre les modèles existants et le système RAG: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923B84-8995-3228-E9C6-A41FD6D97A40}"/>
              </a:ext>
            </a:extLst>
          </p:cNvPr>
          <p:cNvSpPr txBox="1"/>
          <p:nvPr/>
        </p:nvSpPr>
        <p:spPr>
          <a:xfrm>
            <a:off x="251740" y="2648241"/>
            <a:ext cx="12245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tableau suivant présente la différence entre les modèles existants et le système RAG  </a:t>
            </a:r>
          </a:p>
        </p:txBody>
      </p:sp>
      <p:pic>
        <p:nvPicPr>
          <p:cNvPr id="25" name="Picture 24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9CD1A517-D699-4172-8B11-A4226AD5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606" y="3408675"/>
            <a:ext cx="10428993" cy="580106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7E954BE-0D15-573E-9362-28C5544E82A4}"/>
              </a:ext>
            </a:extLst>
          </p:cNvPr>
          <p:cNvSpPr txBox="1"/>
          <p:nvPr/>
        </p:nvSpPr>
        <p:spPr>
          <a:xfrm>
            <a:off x="17145000" y="94107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559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6D1BC-7BE0-17E4-AC84-C1052C60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DA55E9-AD6C-5694-39BF-7EDA83ABC59E}"/>
              </a:ext>
            </a:extLst>
          </p:cNvPr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827A39-320F-27A5-40C8-B9B986FAB9E9}"/>
              </a:ext>
            </a:extLst>
          </p:cNvPr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E20A2F-469B-5300-A93E-3113F672F94E}"/>
                </a:ext>
              </a:extLst>
            </p:cNvPr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573E42-B8F6-0692-90B4-9E5FC87C6E69}"/>
                </a:ext>
              </a:extLst>
            </p:cNvPr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1C62B90-95D5-5637-670E-F0B3D901CBE2}"/>
              </a:ext>
            </a:extLst>
          </p:cNvPr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BAA11F-3045-DF39-3539-F62BA78B4B1F}"/>
                </a:ext>
              </a:extLst>
            </p:cNvPr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6C9D83D-AE13-DA60-28FB-3114856C0137}"/>
                </a:ext>
              </a:extLst>
            </p:cNvPr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57F42DE-C7F9-7E27-C8C6-4E68682CD79E}"/>
              </a:ext>
            </a:extLst>
          </p:cNvPr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chemeClr val="bg1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60470A5-F42F-44F3-F7D5-EC2309799545}"/>
                </a:ext>
              </a:extLst>
            </p:cNvPr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F14B8B3-2B08-B9B0-33E3-C22C2DD6DC00}"/>
                </a:ext>
              </a:extLst>
            </p:cNvPr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763B676-14A7-47E5-2F7B-E832BE420CFE}"/>
              </a:ext>
            </a:extLst>
          </p:cNvPr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  <a:solidFill>
            <a:srgbClr val="FFC000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212B777-01B5-7CCF-47BA-632D7AB0A12D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DC42AB3-5FAB-2E62-B9E4-C23F2239BABE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6AB7CF5-55C4-DE5D-CD40-F9656C8DA191}"/>
              </a:ext>
            </a:extLst>
          </p:cNvPr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6BF2D8E-545A-B80F-FF9A-8CAE92A7BB69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92305D09-13BF-84E6-E6B6-23B2119770EF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A9AC0C52-536B-748A-D89D-503EDDA5647D}"/>
              </a:ext>
            </a:extLst>
          </p:cNvPr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C0ABA7C-A1E4-A958-CFAC-325AD7CA25DB}"/>
              </a:ext>
            </a:extLst>
          </p:cNvPr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64504BF-82A4-014E-917C-A521C3D29EC3}"/>
              </a:ext>
            </a:extLst>
          </p:cNvPr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06E5987-2856-1FB6-F285-8C27F0F491B2}"/>
              </a:ext>
            </a:extLst>
          </p:cNvPr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43BBE1A-804F-D9ED-605D-38982C3D1D55}"/>
              </a:ext>
            </a:extLst>
          </p:cNvPr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173FB-11DB-0266-B764-7EC1ECCF1AC1}"/>
              </a:ext>
            </a:extLst>
          </p:cNvPr>
          <p:cNvSpPr txBox="1"/>
          <p:nvPr/>
        </p:nvSpPr>
        <p:spPr>
          <a:xfrm>
            <a:off x="223793" y="1826252"/>
            <a:ext cx="7548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Précision des réponses: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97AEF-2C65-3B27-424B-FD430FF856AF}"/>
              </a:ext>
            </a:extLst>
          </p:cNvPr>
          <p:cNvSpPr txBox="1"/>
          <p:nvPr/>
        </p:nvSpPr>
        <p:spPr>
          <a:xfrm>
            <a:off x="251740" y="2648241"/>
            <a:ext cx="12245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figues suivantes présentent la réponse avant et après le système RAG</a:t>
            </a: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4A3B99-638E-16AC-0DE4-938909D5C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40" y="3924300"/>
            <a:ext cx="7273917" cy="3075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4191B12B-F4C6-F578-DEED-61BB9A2F21D5}"/>
              </a:ext>
            </a:extLst>
          </p:cNvPr>
          <p:cNvSpPr/>
          <p:nvPr/>
        </p:nvSpPr>
        <p:spPr>
          <a:xfrm>
            <a:off x="7772401" y="4686300"/>
            <a:ext cx="2819400" cy="99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Picture 29" descr="A close up of text&#10;&#10;AI-generated content may be incorrect.">
            <a:extLst>
              <a:ext uri="{FF2B5EF4-FFF2-40B4-BE49-F238E27FC236}">
                <a16:creationId xmlns:a16="http://schemas.microsoft.com/office/drawing/2014/main" id="{A82482EE-AC28-1831-B3CF-6EB7F052D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345" y="3924300"/>
            <a:ext cx="7265681" cy="3075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A9800D9-2BB2-B7FD-30BA-1429CB558C69}"/>
              </a:ext>
            </a:extLst>
          </p:cNvPr>
          <p:cNvSpPr txBox="1"/>
          <p:nvPr/>
        </p:nvSpPr>
        <p:spPr>
          <a:xfrm>
            <a:off x="251740" y="7324956"/>
            <a:ext cx="575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Figure 11 : Réponse avant le RAG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E5894A-6972-D612-1AC3-B60EB9B7F362}"/>
              </a:ext>
            </a:extLst>
          </p:cNvPr>
          <p:cNvSpPr txBox="1"/>
          <p:nvPr/>
        </p:nvSpPr>
        <p:spPr>
          <a:xfrm>
            <a:off x="10762345" y="7290873"/>
            <a:ext cx="575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Figure 12 : Réponse après le RAG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ABAEDC-6224-6A37-E03B-2D777156FD91}"/>
              </a:ext>
            </a:extLst>
          </p:cNvPr>
          <p:cNvSpPr txBox="1"/>
          <p:nvPr/>
        </p:nvSpPr>
        <p:spPr>
          <a:xfrm>
            <a:off x="17183697" y="9381774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625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91E5C-D512-0BC1-F2E3-8AEF5613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45FF91A-961C-88E2-2A9E-04EADC2160B5}"/>
              </a:ext>
            </a:extLst>
          </p:cNvPr>
          <p:cNvSpPr/>
          <p:nvPr/>
        </p:nvSpPr>
        <p:spPr>
          <a:xfrm>
            <a:off x="0" y="1487163"/>
            <a:ext cx="182880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0F89F3A-275E-318A-D342-B74E493472F4}"/>
              </a:ext>
            </a:extLst>
          </p:cNvPr>
          <p:cNvGrpSpPr/>
          <p:nvPr/>
        </p:nvGrpSpPr>
        <p:grpSpPr>
          <a:xfrm>
            <a:off x="251740" y="217865"/>
            <a:ext cx="2887324" cy="1122343"/>
            <a:chOff x="0" y="0"/>
            <a:chExt cx="2090998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82859CE-5354-B676-28BA-2C0BF9934752}"/>
                </a:ext>
              </a:extLst>
            </p:cNvPr>
            <p:cNvSpPr/>
            <p:nvPr/>
          </p:nvSpPr>
          <p:spPr>
            <a:xfrm>
              <a:off x="0" y="0"/>
              <a:ext cx="2090998" cy="812800"/>
            </a:xfrm>
            <a:custGeom>
              <a:avLst/>
              <a:gdLst/>
              <a:ahLst/>
              <a:cxnLst/>
              <a:rect l="l" t="t" r="r" b="b"/>
              <a:pathLst>
                <a:path w="2090998" h="812800">
                  <a:moveTo>
                    <a:pt x="45583" y="0"/>
                  </a:moveTo>
                  <a:lnTo>
                    <a:pt x="2045415" y="0"/>
                  </a:lnTo>
                  <a:cubicBezTo>
                    <a:pt x="2070589" y="0"/>
                    <a:pt x="2090998" y="20408"/>
                    <a:pt x="2090998" y="45583"/>
                  </a:cubicBezTo>
                  <a:lnTo>
                    <a:pt x="2090998" y="767217"/>
                  </a:lnTo>
                  <a:cubicBezTo>
                    <a:pt x="2090998" y="779306"/>
                    <a:pt x="2086195" y="790901"/>
                    <a:pt x="2077647" y="799449"/>
                  </a:cubicBezTo>
                  <a:cubicBezTo>
                    <a:pt x="2069098" y="807998"/>
                    <a:pt x="2057504" y="812800"/>
                    <a:pt x="2045415" y="812800"/>
                  </a:cubicBezTo>
                  <a:lnTo>
                    <a:pt x="45583" y="812800"/>
                  </a:lnTo>
                  <a:cubicBezTo>
                    <a:pt x="33494" y="812800"/>
                    <a:pt x="21899" y="807998"/>
                    <a:pt x="13351" y="799449"/>
                  </a:cubicBezTo>
                  <a:cubicBezTo>
                    <a:pt x="4802" y="790901"/>
                    <a:pt x="0" y="779306"/>
                    <a:pt x="0" y="767217"/>
                  </a:cubicBezTo>
                  <a:lnTo>
                    <a:pt x="0" y="45583"/>
                  </a:lnTo>
                  <a:cubicBezTo>
                    <a:pt x="0" y="33494"/>
                    <a:pt x="4802" y="21899"/>
                    <a:pt x="13351" y="13351"/>
                  </a:cubicBezTo>
                  <a:cubicBezTo>
                    <a:pt x="21899" y="4802"/>
                    <a:pt x="33494" y="0"/>
                    <a:pt x="4558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2661929-87A2-3AD4-D09B-BAF20500582D}"/>
                </a:ext>
              </a:extLst>
            </p:cNvPr>
            <p:cNvSpPr txBox="1"/>
            <p:nvPr/>
          </p:nvSpPr>
          <p:spPr>
            <a:xfrm>
              <a:off x="0" y="-38100"/>
              <a:ext cx="2090998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4D8FB17-0980-786B-E0DF-6985B9F655D3}"/>
              </a:ext>
            </a:extLst>
          </p:cNvPr>
          <p:cNvGrpSpPr/>
          <p:nvPr/>
        </p:nvGrpSpPr>
        <p:grpSpPr>
          <a:xfrm>
            <a:off x="3595411" y="217865"/>
            <a:ext cx="2997132" cy="1122343"/>
            <a:chOff x="0" y="0"/>
            <a:chExt cx="217052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65DCE4C-4BFA-9E94-63B1-07FC17D45EB4}"/>
                </a:ext>
              </a:extLst>
            </p:cNvPr>
            <p:cNvSpPr/>
            <p:nvPr/>
          </p:nvSpPr>
          <p:spPr>
            <a:xfrm>
              <a:off x="0" y="0"/>
              <a:ext cx="2170520" cy="812800"/>
            </a:xfrm>
            <a:custGeom>
              <a:avLst/>
              <a:gdLst/>
              <a:ahLst/>
              <a:cxnLst/>
              <a:rect l="l" t="t" r="r" b="b"/>
              <a:pathLst>
                <a:path w="2170520" h="812800">
                  <a:moveTo>
                    <a:pt x="43913" y="0"/>
                  </a:moveTo>
                  <a:lnTo>
                    <a:pt x="2126607" y="0"/>
                  </a:lnTo>
                  <a:cubicBezTo>
                    <a:pt x="2150860" y="0"/>
                    <a:pt x="2170520" y="19660"/>
                    <a:pt x="2170520" y="43913"/>
                  </a:cubicBezTo>
                  <a:lnTo>
                    <a:pt x="2170520" y="768887"/>
                  </a:lnTo>
                  <a:cubicBezTo>
                    <a:pt x="2170520" y="780534"/>
                    <a:pt x="2165894" y="791703"/>
                    <a:pt x="2157658" y="799938"/>
                  </a:cubicBezTo>
                  <a:cubicBezTo>
                    <a:pt x="2149423" y="808173"/>
                    <a:pt x="2138254" y="812800"/>
                    <a:pt x="2126607" y="812800"/>
                  </a:cubicBezTo>
                  <a:lnTo>
                    <a:pt x="43913" y="812800"/>
                  </a:lnTo>
                  <a:cubicBezTo>
                    <a:pt x="32266" y="812800"/>
                    <a:pt x="21097" y="808173"/>
                    <a:pt x="12862" y="799938"/>
                  </a:cubicBezTo>
                  <a:cubicBezTo>
                    <a:pt x="4627" y="791703"/>
                    <a:pt x="0" y="780534"/>
                    <a:pt x="0" y="768887"/>
                  </a:cubicBezTo>
                  <a:lnTo>
                    <a:pt x="0" y="43913"/>
                  </a:lnTo>
                  <a:cubicBezTo>
                    <a:pt x="0" y="32266"/>
                    <a:pt x="4627" y="21097"/>
                    <a:pt x="12862" y="12862"/>
                  </a:cubicBezTo>
                  <a:cubicBezTo>
                    <a:pt x="21097" y="4627"/>
                    <a:pt x="32266" y="0"/>
                    <a:pt x="43913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457D97B-C61B-7E1E-D75B-18248F4906CF}"/>
                </a:ext>
              </a:extLst>
            </p:cNvPr>
            <p:cNvSpPr txBox="1"/>
            <p:nvPr/>
          </p:nvSpPr>
          <p:spPr>
            <a:xfrm>
              <a:off x="0" y="-38100"/>
              <a:ext cx="2170520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3E78256-C748-471A-1621-7A606CFCDEA6}"/>
              </a:ext>
            </a:extLst>
          </p:cNvPr>
          <p:cNvGrpSpPr/>
          <p:nvPr/>
        </p:nvGrpSpPr>
        <p:grpSpPr>
          <a:xfrm>
            <a:off x="7049742" y="215671"/>
            <a:ext cx="3076772" cy="1122343"/>
            <a:chOff x="0" y="0"/>
            <a:chExt cx="2228195" cy="812800"/>
          </a:xfrm>
          <a:solidFill>
            <a:schemeClr val="bg1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DFA3B0-50A9-123D-50D4-306C53A5F279}"/>
                </a:ext>
              </a:extLst>
            </p:cNvPr>
            <p:cNvSpPr/>
            <p:nvPr/>
          </p:nvSpPr>
          <p:spPr>
            <a:xfrm>
              <a:off x="0" y="0"/>
              <a:ext cx="2228195" cy="812800"/>
            </a:xfrm>
            <a:custGeom>
              <a:avLst/>
              <a:gdLst/>
              <a:ahLst/>
              <a:cxnLst/>
              <a:rect l="l" t="t" r="r" b="b"/>
              <a:pathLst>
                <a:path w="2228195" h="812800">
                  <a:moveTo>
                    <a:pt x="42776" y="0"/>
                  </a:moveTo>
                  <a:lnTo>
                    <a:pt x="2185419" y="0"/>
                  </a:lnTo>
                  <a:cubicBezTo>
                    <a:pt x="2209044" y="0"/>
                    <a:pt x="2228195" y="19152"/>
                    <a:pt x="2228195" y="42776"/>
                  </a:cubicBezTo>
                  <a:lnTo>
                    <a:pt x="2228195" y="770024"/>
                  </a:lnTo>
                  <a:cubicBezTo>
                    <a:pt x="2228195" y="793648"/>
                    <a:pt x="2209044" y="812800"/>
                    <a:pt x="2185419" y="812800"/>
                  </a:cubicBezTo>
                  <a:lnTo>
                    <a:pt x="42776" y="812800"/>
                  </a:lnTo>
                  <a:cubicBezTo>
                    <a:pt x="19152" y="812800"/>
                    <a:pt x="0" y="793648"/>
                    <a:pt x="0" y="770024"/>
                  </a:cubicBezTo>
                  <a:lnTo>
                    <a:pt x="0" y="42776"/>
                  </a:lnTo>
                  <a:cubicBezTo>
                    <a:pt x="0" y="19152"/>
                    <a:pt x="19152" y="0"/>
                    <a:pt x="42776" y="0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3379901-FF19-553C-C7AB-EBBB5C9E18AE}"/>
                </a:ext>
              </a:extLst>
            </p:cNvPr>
            <p:cNvSpPr txBox="1"/>
            <p:nvPr/>
          </p:nvSpPr>
          <p:spPr>
            <a:xfrm>
              <a:off x="0" y="-38100"/>
              <a:ext cx="2228195" cy="85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A3A1A11-97C0-5583-8587-413871C832C3}"/>
              </a:ext>
            </a:extLst>
          </p:cNvPr>
          <p:cNvGrpSpPr/>
          <p:nvPr/>
        </p:nvGrpSpPr>
        <p:grpSpPr>
          <a:xfrm>
            <a:off x="10583714" y="215671"/>
            <a:ext cx="3493556" cy="1122343"/>
            <a:chOff x="0" y="0"/>
            <a:chExt cx="2530030" cy="812800"/>
          </a:xfrm>
          <a:solidFill>
            <a:schemeClr val="bg1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95A94F-1007-45B0-FB8E-D5AB142F3C9E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586A21E-6095-FACE-7158-FC23BB2D606E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613EF8D-9684-8116-4DF1-F15E3B8B78F3}"/>
              </a:ext>
            </a:extLst>
          </p:cNvPr>
          <p:cNvGrpSpPr/>
          <p:nvPr/>
        </p:nvGrpSpPr>
        <p:grpSpPr>
          <a:xfrm>
            <a:off x="14534470" y="215671"/>
            <a:ext cx="3493556" cy="1122343"/>
            <a:chOff x="0" y="0"/>
            <a:chExt cx="2530030" cy="812800"/>
          </a:xfrm>
          <a:solidFill>
            <a:srgbClr val="FFC000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547944B-2ACC-748B-96F8-6956A385630F}"/>
                </a:ext>
              </a:extLst>
            </p:cNvPr>
            <p:cNvSpPr/>
            <p:nvPr/>
          </p:nvSpPr>
          <p:spPr>
            <a:xfrm>
              <a:off x="0" y="0"/>
              <a:ext cx="2530030" cy="812800"/>
            </a:xfrm>
            <a:custGeom>
              <a:avLst/>
              <a:gdLst/>
              <a:ahLst/>
              <a:cxnLst/>
              <a:rect l="l" t="t" r="r" b="b"/>
              <a:pathLst>
                <a:path w="2530030" h="812800">
                  <a:moveTo>
                    <a:pt x="37673" y="0"/>
                  </a:moveTo>
                  <a:lnTo>
                    <a:pt x="2492357" y="0"/>
                  </a:lnTo>
                  <a:cubicBezTo>
                    <a:pt x="2502349" y="0"/>
                    <a:pt x="2511931" y="3969"/>
                    <a:pt x="2518996" y="11034"/>
                  </a:cubicBezTo>
                  <a:cubicBezTo>
                    <a:pt x="2526061" y="18099"/>
                    <a:pt x="2530030" y="27681"/>
                    <a:pt x="2530030" y="37673"/>
                  </a:cubicBezTo>
                  <a:lnTo>
                    <a:pt x="2530030" y="775127"/>
                  </a:lnTo>
                  <a:cubicBezTo>
                    <a:pt x="2530030" y="795933"/>
                    <a:pt x="2513163" y="812800"/>
                    <a:pt x="2492357" y="812800"/>
                  </a:cubicBezTo>
                  <a:lnTo>
                    <a:pt x="37673" y="812800"/>
                  </a:lnTo>
                  <a:cubicBezTo>
                    <a:pt x="27681" y="812800"/>
                    <a:pt x="18099" y="808831"/>
                    <a:pt x="11034" y="801766"/>
                  </a:cubicBezTo>
                  <a:cubicBezTo>
                    <a:pt x="3969" y="794701"/>
                    <a:pt x="0" y="785119"/>
                    <a:pt x="0" y="775127"/>
                  </a:cubicBezTo>
                  <a:lnTo>
                    <a:pt x="0" y="37673"/>
                  </a:lnTo>
                  <a:cubicBezTo>
                    <a:pt x="0" y="27681"/>
                    <a:pt x="3969" y="18099"/>
                    <a:pt x="11034" y="11034"/>
                  </a:cubicBezTo>
                  <a:cubicBezTo>
                    <a:pt x="18099" y="3969"/>
                    <a:pt x="27681" y="0"/>
                    <a:pt x="37673" y="0"/>
                  </a:cubicBezTo>
                  <a:close/>
                </a:path>
              </a:pathLst>
            </a:cu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2F7DFB2-68D4-F182-AE63-F46166B87932}"/>
                </a:ext>
              </a:extLst>
            </p:cNvPr>
            <p:cNvSpPr txBox="1"/>
            <p:nvPr/>
          </p:nvSpPr>
          <p:spPr>
            <a:xfrm>
              <a:off x="0" y="-38100"/>
              <a:ext cx="2530030" cy="8509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88FB7D82-716C-0EE6-E020-A3F7CED4402E}"/>
              </a:ext>
            </a:extLst>
          </p:cNvPr>
          <p:cNvSpPr txBox="1"/>
          <p:nvPr/>
        </p:nvSpPr>
        <p:spPr>
          <a:xfrm>
            <a:off x="439269" y="568140"/>
            <a:ext cx="2512268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Introduction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581C7DE-6D32-BDA7-0B30-F3115A3B6331}"/>
              </a:ext>
            </a:extLst>
          </p:cNvPr>
          <p:cNvSpPr txBox="1"/>
          <p:nvPr/>
        </p:nvSpPr>
        <p:spPr>
          <a:xfrm>
            <a:off x="3790071" y="568140"/>
            <a:ext cx="2607812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Etat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l’art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BAD52C1-9AFD-F5F8-B005-DA82DC5F2BE7}"/>
              </a:ext>
            </a:extLst>
          </p:cNvPr>
          <p:cNvSpPr txBox="1"/>
          <p:nvPr/>
        </p:nvSpPr>
        <p:spPr>
          <a:xfrm>
            <a:off x="7242681" y="382006"/>
            <a:ext cx="2677106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Description de </a:t>
            </a: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système</a:t>
            </a:r>
            <a:endParaRPr lang="en-US" sz="2145" b="1" dirty="0">
              <a:solidFill>
                <a:srgbClr val="0D203B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668A4A-0B3D-9D3A-D9FD-290A8C330F54}"/>
              </a:ext>
            </a:extLst>
          </p:cNvPr>
          <p:cNvSpPr txBox="1"/>
          <p:nvPr/>
        </p:nvSpPr>
        <p:spPr>
          <a:xfrm>
            <a:off x="10802789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 err="1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Réalisation</a:t>
            </a: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et Evaluation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0D9C60E-FFB3-1457-312F-2663773D5648}"/>
              </a:ext>
            </a:extLst>
          </p:cNvPr>
          <p:cNvSpPr txBox="1"/>
          <p:nvPr/>
        </p:nvSpPr>
        <p:spPr>
          <a:xfrm>
            <a:off x="14753545" y="382006"/>
            <a:ext cx="3039752" cy="74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 b="1" dirty="0">
                <a:solidFill>
                  <a:srgbClr val="0D203B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Conclusion et perspectives</a:t>
            </a:r>
          </a:p>
        </p:txBody>
      </p:sp>
      <p:pic>
        <p:nvPicPr>
          <p:cNvPr id="25" name="Picture 24" descr="A cartoon of a robot&#10;&#10;AI-generated content may be incorrect.">
            <a:extLst>
              <a:ext uri="{FF2B5EF4-FFF2-40B4-BE49-F238E27FC236}">
                <a16:creationId xmlns:a16="http://schemas.microsoft.com/office/drawing/2014/main" id="{55F3F9B6-8509-5C2B-4107-185A3B650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0" y="2125161"/>
            <a:ext cx="3767657" cy="3200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63D8D8-E6AC-48EF-CB60-8B741D05A96F}"/>
              </a:ext>
            </a:extLst>
          </p:cNvPr>
          <p:cNvSpPr txBox="1"/>
          <p:nvPr/>
        </p:nvSpPr>
        <p:spPr>
          <a:xfrm>
            <a:off x="457411" y="2247899"/>
            <a:ext cx="12115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système développé combine LLM avec le système RAG et la base vectorielle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L’approche permet une analyse rapide des symptômes en langage naturel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offre une assistance utile dans les zones à accès médical limité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865511-650F-E2AA-200E-5A7C12BE87A0}"/>
              </a:ext>
            </a:extLst>
          </p:cNvPr>
          <p:cNvSpPr txBox="1"/>
          <p:nvPr/>
        </p:nvSpPr>
        <p:spPr>
          <a:xfrm>
            <a:off x="680940" y="6086296"/>
            <a:ext cx="13029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Perspectives :</a:t>
            </a:r>
          </a:p>
          <a:p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Amélioration continue du système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Intégration de données cliniques en temps réel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Ajout des autres langues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Intéraction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avec des modèles plus récents</a:t>
            </a:r>
          </a:p>
        </p:txBody>
      </p:sp>
      <p:pic>
        <p:nvPicPr>
          <p:cNvPr id="35" name="Picture 34" descr="A person touching a screen with gloves&#10;&#10;AI-generated content may be incorrect.">
            <a:extLst>
              <a:ext uri="{FF2B5EF4-FFF2-40B4-BE49-F238E27FC236}">
                <a16:creationId xmlns:a16="http://schemas.microsoft.com/office/drawing/2014/main" id="{9456D5C2-C2FB-E212-2A25-4C6249390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929" y="5753100"/>
            <a:ext cx="3705187" cy="334345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22E6D8B-3080-771A-23D6-4FFD01BA17C8}"/>
              </a:ext>
            </a:extLst>
          </p:cNvPr>
          <p:cNvSpPr txBox="1"/>
          <p:nvPr/>
        </p:nvSpPr>
        <p:spPr>
          <a:xfrm>
            <a:off x="17144999" y="9410700"/>
            <a:ext cx="64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953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72C49-8123-B63C-5A83-CCBFBBF0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B1618BBF-8155-04FD-F785-6C767FE2A94E}"/>
              </a:ext>
            </a:extLst>
          </p:cNvPr>
          <p:cNvSpPr txBox="1"/>
          <p:nvPr/>
        </p:nvSpPr>
        <p:spPr>
          <a:xfrm>
            <a:off x="17144999" y="9410700"/>
            <a:ext cx="64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2D47E70-E7BB-83CC-5921-88C832B0C43A}"/>
              </a:ext>
            </a:extLst>
          </p:cNvPr>
          <p:cNvSpPr/>
          <p:nvPr/>
        </p:nvSpPr>
        <p:spPr>
          <a:xfrm>
            <a:off x="5268685" y="2857500"/>
            <a:ext cx="11887200" cy="411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800" dirty="0">
                <a:latin typeface="Arial" panose="020B0604020202020204" pitchFamily="34" charset="0"/>
                <a:cs typeface="Arial" panose="020B0604020202020204" pitchFamily="34" charset="0"/>
              </a:rPr>
              <a:t>Merci pour votre attention</a:t>
            </a:r>
          </a:p>
        </p:txBody>
      </p:sp>
      <p:pic>
        <p:nvPicPr>
          <p:cNvPr id="30" name="Picture 29" descr="A yellow smiley face with two thumbs up&#10;&#10;AI-generated content may be incorrect.">
            <a:extLst>
              <a:ext uri="{FF2B5EF4-FFF2-40B4-BE49-F238E27FC236}">
                <a16:creationId xmlns:a16="http://schemas.microsoft.com/office/drawing/2014/main" id="{71D37CAD-6A6D-1A70-EC14-715F5DE44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5" y="3390900"/>
            <a:ext cx="3266430" cy="27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0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4755</TotalTime>
  <Words>461</Words>
  <Application>Microsoft Office PowerPoint</Application>
  <PresentationFormat>Custom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Open Sans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Entreprise Agence Marketing Beige Bleu Formes élégant Moderne Photos Professionnel</dc:title>
  <dc:creator>dell</dc:creator>
  <cp:lastModifiedBy>dell</cp:lastModifiedBy>
  <cp:revision>8</cp:revision>
  <dcterms:created xsi:type="dcterms:W3CDTF">2006-08-16T00:00:00Z</dcterms:created>
  <dcterms:modified xsi:type="dcterms:W3CDTF">2025-05-30T17:22:10Z</dcterms:modified>
  <dc:identifier>DAGn_oy0chc</dc:identifier>
</cp:coreProperties>
</file>